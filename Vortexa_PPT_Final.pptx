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17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ading Now 31-38" panose="020B0604020202020204" charset="0"/>
      <p:regular r:id="rId11"/>
    </p:embeddedFont>
    <p:embeddedFont>
      <p:font typeface="Heading Now 31-38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15D87-4252-4118-8C41-C2E4EADA79C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F58B8-3109-466F-B9B7-5A1493450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89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58B8-3109-466F-B9B7-5A1493450A7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82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5992" y="6431320"/>
            <a:ext cx="1015992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3600" b="1" spc="46" dirty="0">
                <a:solidFill>
                  <a:srgbClr val="4E4A76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TEAM NAME </a:t>
            </a:r>
            <a:r>
              <a:rPr lang="en-US" sz="4400" b="1" spc="46" dirty="0">
                <a:solidFill>
                  <a:srgbClr val="4E4A76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: </a:t>
            </a:r>
            <a:r>
              <a:rPr lang="en-US" sz="3600" b="1" spc="46" dirty="0">
                <a:solidFill>
                  <a:srgbClr val="4E4A76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Code Titan</a:t>
            </a:r>
            <a:endParaRPr lang="en-US" sz="4400" b="1" spc="46" dirty="0">
              <a:solidFill>
                <a:srgbClr val="4E4A76"/>
              </a:solidFill>
              <a:latin typeface="Times New Roman" panose="02020603050405020304" pitchFamily="18" charset="0"/>
              <a:ea typeface="Heading Now 31-38 Bold"/>
              <a:cs typeface="Times New Roman" panose="02020603050405020304" pitchFamily="18" charset="0"/>
              <a:sym typeface="Heading Now 31-38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6676" y="4655619"/>
            <a:ext cx="16470959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48"/>
              </a:lnSpc>
            </a:pPr>
            <a:r>
              <a:rPr lang="en-US" sz="4400" b="1" spc="50" dirty="0">
                <a:solidFill>
                  <a:srgbClr val="1A265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Heading Now 31-38 Bold"/>
              </a:rPr>
              <a:t>TITLE</a:t>
            </a:r>
            <a:r>
              <a:rPr lang="en-US" sz="4800" b="1" spc="50" dirty="0">
                <a:solidFill>
                  <a:srgbClr val="1A265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Heading Now 31-38 Bold"/>
              </a:rPr>
              <a:t> : </a:t>
            </a:r>
            <a:r>
              <a:rPr lang="en-US" sz="4000" b="1" spc="50" dirty="0" err="1">
                <a:solidFill>
                  <a:srgbClr val="1A2651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BudgetClear</a:t>
            </a:r>
            <a:r>
              <a:rPr lang="en-US" sz="4000" b="1" spc="50" dirty="0">
                <a:solidFill>
                  <a:srgbClr val="1A2651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: Public Spending Reconciliation &amp; Anomaly Review</a:t>
            </a:r>
            <a:endParaRPr lang="en-US" sz="4800" b="1" spc="50" dirty="0">
              <a:solidFill>
                <a:srgbClr val="1A2651"/>
              </a:solidFill>
              <a:latin typeface="Times New Roman" panose="02020603050405020304" pitchFamily="18" charset="0"/>
              <a:ea typeface="Heading Now 31-38 Bold"/>
              <a:cs typeface="Times New Roman" panose="02020603050405020304" pitchFamily="18" charset="0"/>
              <a:sym typeface="Heading Now 31-38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36676" y="3538729"/>
            <a:ext cx="625007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3600" b="1" spc="50" dirty="0">
                <a:solidFill>
                  <a:srgbClr val="4E4A76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DOMAIN &amp; NO </a:t>
            </a:r>
            <a:r>
              <a:rPr lang="en-US" sz="5148" b="1" spc="50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:</a:t>
            </a:r>
            <a:r>
              <a:rPr lang="en-US" sz="5148" b="1" spc="50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3600" b="1" spc="50" dirty="0">
                <a:solidFill>
                  <a:srgbClr val="161F3E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"/>
              </a:rPr>
              <a:t>7. G-03</a:t>
            </a:r>
            <a:endParaRPr lang="en-US" sz="5148" spc="50" dirty="0">
              <a:solidFill>
                <a:srgbClr val="161F3E"/>
              </a:solidFill>
              <a:latin typeface="Times New Roman" panose="02020603050405020304" pitchFamily="18" charset="0"/>
              <a:ea typeface="Heading Now 31-38"/>
              <a:cs typeface="Times New Roman" panose="02020603050405020304" pitchFamily="18" charset="0"/>
              <a:sym typeface="Heading Now 31-38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5992" y="7499343"/>
            <a:ext cx="756912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2"/>
              </a:lnSpc>
            </a:pPr>
            <a:r>
              <a:rPr lang="en-US" sz="4000" b="1" spc="43" dirty="0">
                <a:solidFill>
                  <a:srgbClr val="4E4A76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TEAM ID </a:t>
            </a:r>
            <a:r>
              <a:rPr lang="en-US" sz="4800" b="1" spc="43" dirty="0">
                <a:solidFill>
                  <a:srgbClr val="4E4A76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: </a:t>
            </a:r>
            <a:r>
              <a:rPr lang="en-US" sz="3600" b="1" spc="43" dirty="0">
                <a:solidFill>
                  <a:srgbClr val="4E4A76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VTX26-27728</a:t>
            </a:r>
            <a:endParaRPr lang="en-US" sz="4800" b="1" spc="43" dirty="0">
              <a:solidFill>
                <a:srgbClr val="4E4A76"/>
              </a:solidFill>
              <a:latin typeface="Times New Roman" panose="02020603050405020304" pitchFamily="18" charset="0"/>
              <a:ea typeface="Heading Now 31-38 Bold"/>
              <a:cs typeface="Times New Roman" panose="02020603050405020304" pitchFamily="18" charset="0"/>
              <a:sym typeface="Heading Now 31-38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75992" y="383915"/>
            <a:ext cx="4010276" cy="145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5400" b="1" spc="129" dirty="0">
                <a:solidFill>
                  <a:srgbClr val="3C3B56">
                    <a:alpha val="84706"/>
                  </a:srgbClr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151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6600" b="1" spc="129" dirty="0">
                <a:solidFill>
                  <a:srgbClr val="7F5E87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321837" y="2054205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496" y="1747988"/>
            <a:ext cx="625007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200" b="1" spc="89" dirty="0">
                <a:solidFill>
                  <a:srgbClr val="3F3F3F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6" y="2531879"/>
            <a:ext cx="4292523" cy="319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000" b="1" spc="67" dirty="0">
                <a:solidFill>
                  <a:srgbClr val="161F3E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POWERED BY </a:t>
            </a:r>
            <a:r>
              <a:rPr lang="en-US" sz="2000" b="1" spc="67" dirty="0">
                <a:solidFill>
                  <a:srgbClr val="4E4A76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A.I.R.S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7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9339" y="1639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69675" y="412459"/>
            <a:ext cx="8650792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4800" b="1" spc="150" dirty="0">
                <a:solidFill>
                  <a:srgbClr val="172243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6258" y="1296533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8000"/>
            </a:blip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6F23AB-95A7-6D63-7B3B-8AC39D6489D9}"/>
              </a:ext>
            </a:extLst>
          </p:cNvPr>
          <p:cNvSpPr txBox="1"/>
          <p:nvPr/>
        </p:nvSpPr>
        <p:spPr>
          <a:xfrm>
            <a:off x="444385" y="1674142"/>
            <a:ext cx="16748804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The Challenge</a:t>
            </a:r>
          </a:p>
          <a:p>
            <a:r>
              <a:rPr lang="en-IN" sz="3200" dirty="0"/>
              <a:t>Public spending records may contain errors, duplicate transactions, and differences in budget totals. Finding these issues manually takes time.</a:t>
            </a:r>
          </a:p>
          <a:p>
            <a:endParaRPr lang="en-IN" sz="3200" dirty="0"/>
          </a:p>
          <a:p>
            <a:r>
              <a:rPr lang="en-IN" sz="3200" b="1" dirty="0"/>
              <a:t>Key Problems</a:t>
            </a:r>
          </a:p>
          <a:p>
            <a:pPr lvl="0"/>
            <a:r>
              <a:rPr lang="en-IN" sz="3200" b="1" dirty="0"/>
              <a:t>Manual Work:</a:t>
            </a:r>
            <a:r>
              <a:rPr lang="en-IN" sz="3200" dirty="0"/>
              <a:t> Budget checking is time-consuming.</a:t>
            </a:r>
          </a:p>
          <a:p>
            <a:pPr lvl="0"/>
            <a:r>
              <a:rPr lang="en-IN" sz="3200" b="1" dirty="0"/>
              <a:t>Duplicates:</a:t>
            </a:r>
            <a:r>
              <a:rPr lang="en-IN" sz="3200" dirty="0"/>
              <a:t> Repeated entries affect accuracy.</a:t>
            </a:r>
          </a:p>
          <a:p>
            <a:pPr lvl="0"/>
            <a:r>
              <a:rPr lang="en-IN" sz="3200" b="1" dirty="0"/>
              <a:t>Data Errors:</a:t>
            </a:r>
            <a:r>
              <a:rPr lang="en-IN" sz="3200" dirty="0"/>
              <a:t> Missing or incorrect information creates problems.</a:t>
            </a:r>
          </a:p>
          <a:p>
            <a:pPr lvl="0"/>
            <a:r>
              <a:rPr lang="en-IN" sz="3200" b="1" dirty="0"/>
              <a:t>Hidden Anomalies:</a:t>
            </a:r>
            <a:r>
              <a:rPr lang="en-IN" sz="3200" dirty="0"/>
              <a:t> Unusual transactions may go unnoticed.</a:t>
            </a:r>
          </a:p>
          <a:p>
            <a:pPr lvl="0"/>
            <a:endParaRPr lang="en-IN" sz="3200" dirty="0"/>
          </a:p>
          <a:p>
            <a:r>
              <a:rPr lang="en-IN" sz="3200" b="1" dirty="0"/>
              <a:t>Existing Gap</a:t>
            </a:r>
          </a:p>
          <a:p>
            <a:r>
              <a:rPr lang="en-IN" sz="3200" dirty="0"/>
              <a:t>A single system is needed to check data, compare budgets, detect duplicates, and flag unusual transactions.</a:t>
            </a:r>
          </a:p>
          <a:p>
            <a:endParaRPr lang="en-IN" sz="3200" dirty="0"/>
          </a:p>
          <a:p>
            <a:r>
              <a:rPr lang="en-IN" sz="3200" b="1" dirty="0"/>
              <a:t>Our Objective</a:t>
            </a:r>
          </a:p>
          <a:p>
            <a:r>
              <a:rPr lang="en-IN" sz="3200" b="1" dirty="0" err="1"/>
              <a:t>BudgetClear</a:t>
            </a:r>
            <a:r>
              <a:rPr lang="en-IN" sz="3200" dirty="0"/>
              <a:t> helps identify financial discrepancies and supports transparent reporting. Every flag needs human investigation; it is not proof of wrongdoing.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55294" y="146680"/>
            <a:ext cx="11860505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4800" b="1" spc="150" dirty="0">
                <a:solidFill>
                  <a:srgbClr val="172243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51FC2D-2D03-0DCF-E9D3-B1D7AB3290A6}"/>
              </a:ext>
            </a:extLst>
          </p:cNvPr>
          <p:cNvSpPr txBox="1"/>
          <p:nvPr/>
        </p:nvSpPr>
        <p:spPr>
          <a:xfrm>
            <a:off x="389703" y="1684799"/>
            <a:ext cx="1733532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financial review platform that transforms raw public expenditure records into structured, evidence-based insights.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Validation: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missing, invalid, and inconsistent transaction data.</a:t>
            </a:r>
          </a:p>
          <a:p>
            <a:pPr lvl="0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Reconciliation: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recorded expenditure with reported budget totals.</a:t>
            </a:r>
          </a:p>
          <a:p>
            <a:pPr lvl="0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Detection: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 potentially repeated transactions.</a:t>
            </a:r>
          </a:p>
          <a:p>
            <a:pPr lvl="0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Assistance: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 transaction categories and highlight unusual entries.</a:t>
            </a:r>
          </a:p>
          <a:p>
            <a:pPr lvl="0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Review: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reviewers to assess evidence before making decisions.</a:t>
            </a:r>
          </a:p>
          <a:p>
            <a:pPr lvl="0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Reporting: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Export evidence-linked findings as CSV or JSON.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VISION: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discrepancies. Explain the evidence. Strengthen financial transparency.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28600" y="281674"/>
            <a:ext cx="8077200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4800" b="1" spc="150" dirty="0">
                <a:solidFill>
                  <a:srgbClr val="172243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TECHNICAL APPROACH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456D41-43A8-0F0E-6A11-5B95B3D34934}"/>
              </a:ext>
            </a:extLst>
          </p:cNvPr>
          <p:cNvSpPr txBox="1"/>
          <p:nvPr/>
        </p:nvSpPr>
        <p:spPr>
          <a:xfrm>
            <a:off x="481809" y="1333500"/>
            <a:ext cx="17251397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Technology Stack</a:t>
            </a:r>
          </a:p>
          <a:p>
            <a:pPr lvl="0"/>
            <a:r>
              <a:rPr lang="en-IN" sz="2800" b="1" dirty="0"/>
              <a:t>Frontend:</a:t>
            </a:r>
            <a:r>
              <a:rPr lang="en-IN" sz="2800" dirty="0"/>
              <a:t> </a:t>
            </a:r>
            <a:r>
              <a:rPr lang="en-IN" sz="2800" dirty="0" err="1"/>
              <a:t>Streamlit</a:t>
            </a:r>
            <a:endParaRPr lang="en-IN" sz="2800" dirty="0"/>
          </a:p>
          <a:p>
            <a:pPr lvl="0"/>
            <a:r>
              <a:rPr lang="en-IN" sz="2800" b="1" dirty="0"/>
              <a:t>Language:</a:t>
            </a:r>
            <a:r>
              <a:rPr lang="en-IN" sz="2800" dirty="0"/>
              <a:t> Python, pandas, and Decimal arithmetic</a:t>
            </a:r>
          </a:p>
          <a:p>
            <a:pPr lvl="0"/>
            <a:r>
              <a:rPr lang="en-IN" sz="2800" b="1" dirty="0"/>
              <a:t>AI/ML:</a:t>
            </a:r>
            <a:r>
              <a:rPr lang="en-IN" sz="2800" dirty="0"/>
              <a:t> scikit-learn and keyword fallback</a:t>
            </a:r>
          </a:p>
          <a:p>
            <a:pPr lvl="0"/>
            <a:r>
              <a:rPr lang="en-IN" sz="2800" b="1" dirty="0"/>
              <a:t>Testing:</a:t>
            </a:r>
            <a:r>
              <a:rPr lang="en-IN" sz="2800" dirty="0"/>
              <a:t> </a:t>
            </a:r>
            <a:r>
              <a:rPr lang="en-IN" sz="2800" dirty="0" err="1"/>
              <a:t>pytest</a:t>
            </a:r>
            <a:r>
              <a:rPr lang="en-IN" sz="2800" dirty="0"/>
              <a:t>, Git, and GitHub</a:t>
            </a:r>
          </a:p>
          <a:p>
            <a:pPr lvl="0"/>
            <a:endParaRPr lang="en-IN" sz="2800" dirty="0"/>
          </a:p>
          <a:p>
            <a:r>
              <a:rPr lang="en-IN" sz="2800" b="1" dirty="0"/>
              <a:t>System Workflow</a:t>
            </a:r>
          </a:p>
          <a:p>
            <a:pPr lvl="0"/>
            <a:r>
              <a:rPr lang="en-IN" sz="2800" b="1" dirty="0"/>
              <a:t>Input:</a:t>
            </a:r>
            <a:r>
              <a:rPr lang="en-IN" sz="2800" dirty="0"/>
              <a:t> Upload transaction data and budget totals.</a:t>
            </a:r>
          </a:p>
          <a:p>
            <a:pPr lvl="0"/>
            <a:r>
              <a:rPr lang="en-IN" sz="2800" b="1" dirty="0"/>
              <a:t>Validation:</a:t>
            </a:r>
            <a:r>
              <a:rPr lang="en-IN" sz="2800" dirty="0"/>
              <a:t> Check missing or incorrect data.</a:t>
            </a:r>
          </a:p>
          <a:p>
            <a:pPr lvl="0"/>
            <a:r>
              <a:rPr lang="en-IN" sz="2800" b="1" dirty="0"/>
              <a:t>Reconciliation:</a:t>
            </a:r>
            <a:r>
              <a:rPr lang="en-IN" sz="2800" dirty="0"/>
              <a:t> Compare actual and reported totals.</a:t>
            </a:r>
          </a:p>
          <a:p>
            <a:pPr lvl="0"/>
            <a:r>
              <a:rPr lang="en-IN" sz="2800" b="1" dirty="0"/>
              <a:t>Duplicate Detection:</a:t>
            </a:r>
            <a:r>
              <a:rPr lang="en-IN" sz="2800" dirty="0"/>
              <a:t> Identify repeated transactions.</a:t>
            </a:r>
          </a:p>
          <a:p>
            <a:pPr lvl="0"/>
            <a:r>
              <a:rPr lang="en-IN" sz="2800" b="1" dirty="0"/>
              <a:t>AI Analysis:</a:t>
            </a:r>
            <a:r>
              <a:rPr lang="en-IN" sz="2800" dirty="0"/>
              <a:t> Suggest categories and flag unusual entries.</a:t>
            </a:r>
          </a:p>
          <a:p>
            <a:pPr lvl="0"/>
            <a:r>
              <a:rPr lang="en-IN" sz="2800" b="1" dirty="0"/>
              <a:t>Review &amp; Report:</a:t>
            </a:r>
            <a:r>
              <a:rPr lang="en-IN" sz="2800" dirty="0"/>
              <a:t> Verify findings and prepare reports.</a:t>
            </a:r>
          </a:p>
          <a:p>
            <a:pPr lvl="0"/>
            <a:endParaRPr lang="en-IN" sz="2800" dirty="0"/>
          </a:p>
          <a:p>
            <a:r>
              <a:rPr lang="en-IN" sz="2800" b="1" dirty="0"/>
              <a:t>Core Principles</a:t>
            </a:r>
          </a:p>
          <a:p>
            <a:pPr lvl="0"/>
            <a:r>
              <a:rPr lang="en-IN" sz="2800" dirty="0"/>
              <a:t>Modular and testable design</a:t>
            </a:r>
          </a:p>
          <a:p>
            <a:pPr lvl="0"/>
            <a:r>
              <a:rPr lang="en-IN" sz="2800" dirty="0"/>
              <a:t>Accurate financial calculations</a:t>
            </a:r>
          </a:p>
          <a:p>
            <a:pPr lvl="0"/>
            <a:r>
              <a:rPr lang="en-IN" sz="2800" dirty="0"/>
              <a:t>Original data preservation</a:t>
            </a:r>
          </a:p>
          <a:p>
            <a:pPr lvl="0"/>
            <a:r>
              <a:rPr lang="en-IN" sz="2800" dirty="0"/>
              <a:t>Evidence-based suggestions</a:t>
            </a:r>
          </a:p>
          <a:p>
            <a:pPr lvl="0"/>
            <a:r>
              <a:rPr lang="en-IN" sz="2800" dirty="0"/>
              <a:t>Human-controlled final decisions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93554" y="363850"/>
            <a:ext cx="9838549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4800" b="1" spc="150" dirty="0">
                <a:solidFill>
                  <a:srgbClr val="172243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4800" y="1255033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F55679-B76D-C27C-185E-5342DD7D425A}"/>
              </a:ext>
            </a:extLst>
          </p:cNvPr>
          <p:cNvSpPr txBox="1"/>
          <p:nvPr/>
        </p:nvSpPr>
        <p:spPr>
          <a:xfrm>
            <a:off x="476341" y="1593321"/>
            <a:ext cx="16045677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Technical Feasibility</a:t>
            </a:r>
          </a:p>
          <a:p>
            <a:pPr lvl="0"/>
            <a:r>
              <a:rPr lang="en-IN" sz="2800" dirty="0"/>
              <a:t>Python and </a:t>
            </a:r>
            <a:r>
              <a:rPr lang="en-IN" sz="2800" dirty="0" err="1"/>
              <a:t>Streamlit</a:t>
            </a:r>
            <a:r>
              <a:rPr lang="en-IN" sz="2800" dirty="0"/>
              <a:t>-based implementation.</a:t>
            </a:r>
          </a:p>
          <a:p>
            <a:pPr lvl="0"/>
            <a:r>
              <a:rPr lang="en-IN" sz="2800" dirty="0"/>
              <a:t>Modular architecture with automated testing.</a:t>
            </a:r>
          </a:p>
          <a:p>
            <a:pPr lvl="0"/>
            <a:endParaRPr lang="en-IN" sz="2800" dirty="0"/>
          </a:p>
          <a:p>
            <a:r>
              <a:rPr lang="en-IN" sz="2800" b="1" dirty="0"/>
              <a:t>Operational Viability</a:t>
            </a:r>
          </a:p>
          <a:p>
            <a:pPr lvl="0"/>
            <a:r>
              <a:rPr lang="en-IN" sz="2800" dirty="0"/>
              <a:t>Simple CSV-based transaction input.</a:t>
            </a:r>
          </a:p>
          <a:p>
            <a:pPr lvl="0"/>
            <a:r>
              <a:rPr lang="en-IN" sz="2800" dirty="0"/>
              <a:t>Faster identification of discrepancies and duplicates.</a:t>
            </a:r>
          </a:p>
          <a:p>
            <a:pPr lvl="0"/>
            <a:r>
              <a:rPr lang="en-IN" sz="2800" dirty="0"/>
              <a:t>Evidence-based suggestions for human review.</a:t>
            </a:r>
          </a:p>
          <a:p>
            <a:pPr lvl="0"/>
            <a:endParaRPr lang="en-IN" sz="2800" dirty="0"/>
          </a:p>
          <a:p>
            <a:r>
              <a:rPr lang="en-IN" sz="2800" b="1" dirty="0"/>
              <a:t>Scalability</a:t>
            </a:r>
          </a:p>
          <a:p>
            <a:pPr lvl="0"/>
            <a:r>
              <a:rPr lang="en-IN" sz="2800" dirty="0"/>
              <a:t>Supports future expansion to larger datasets.</a:t>
            </a:r>
          </a:p>
          <a:p>
            <a:pPr lvl="0"/>
            <a:r>
              <a:rPr lang="en-IN" sz="2800" dirty="0"/>
              <a:t>Future scope: integration with authorized financial systems.</a:t>
            </a:r>
          </a:p>
          <a:p>
            <a:pPr lvl="0"/>
            <a:endParaRPr lang="en-IN" sz="2800" dirty="0"/>
          </a:p>
          <a:p>
            <a:r>
              <a:rPr lang="en-IN" sz="2800" b="1" dirty="0"/>
              <a:t>Risks &amp; Mitigation</a:t>
            </a:r>
          </a:p>
          <a:p>
            <a:pPr lvl="0"/>
            <a:r>
              <a:rPr lang="en-IN" sz="2800" b="1" dirty="0"/>
              <a:t>False Positives:</a:t>
            </a:r>
            <a:r>
              <a:rPr lang="en-IN" sz="2800" dirty="0"/>
              <a:t> Every flag needs human investigation.</a:t>
            </a:r>
          </a:p>
          <a:p>
            <a:pPr lvl="0"/>
            <a:r>
              <a:rPr lang="en-IN" sz="2800" b="1" dirty="0"/>
              <a:t>Data Quality:</a:t>
            </a:r>
            <a:r>
              <a:rPr lang="en-IN" sz="2800" dirty="0"/>
              <a:t> Input validation before analysis.</a:t>
            </a:r>
          </a:p>
          <a:p>
            <a:pPr lvl="0"/>
            <a:r>
              <a:rPr lang="en-IN" sz="2800" b="1" dirty="0"/>
              <a:t>Privacy:</a:t>
            </a:r>
            <a:r>
              <a:rPr lang="en-IN" sz="2800" dirty="0"/>
              <a:t> Fictional demo data; no real records in the repository.</a:t>
            </a:r>
          </a:p>
          <a:p>
            <a:r>
              <a:rPr lang="en-IN" sz="2800" b="1" dirty="0"/>
              <a:t>Outcome:</a:t>
            </a:r>
            <a:r>
              <a:rPr lang="en-IN" sz="2800" dirty="0"/>
              <a:t> A practical, transparent, and extensible financial review solution.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66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4245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04800" y="357068"/>
            <a:ext cx="8305800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4800" b="1" spc="150" dirty="0">
                <a:solidFill>
                  <a:srgbClr val="172243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479392" y="1261664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D35101-F43D-F172-D704-BCA35C97AB8F}"/>
              </a:ext>
            </a:extLst>
          </p:cNvPr>
          <p:cNvSpPr txBox="1"/>
          <p:nvPr/>
        </p:nvSpPr>
        <p:spPr>
          <a:xfrm>
            <a:off x="731205" y="1739672"/>
            <a:ext cx="16383001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repetitive manual checking.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Speeds up financial discrepancy identification.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Transparency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budget and expenditure differences.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clarity in financial reporting.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Insights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transaction categories.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 unusual entries for investigation.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evidence-based findings.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final decisions under human control.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Impact: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Supporting smarter financial reviews and more transparent public spending.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1402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361260"/>
            <a:ext cx="7107532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4800" b="1" spc="150" dirty="0">
                <a:solidFill>
                  <a:srgbClr val="172243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24549" y="1410796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E9715-0BD5-C06F-B7E7-B9C75C0F6A4F}"/>
              </a:ext>
            </a:extLst>
          </p:cNvPr>
          <p:cNvSpPr txBox="1"/>
          <p:nvPr/>
        </p:nvSpPr>
        <p:spPr>
          <a:xfrm>
            <a:off x="627739" y="2227183"/>
            <a:ext cx="16274866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Financial Review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validation, reconciliation, duplicate detection, and AI assistance in one workflow.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category suggestions and highlights unusual transactions with supporting evidence.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&amp; Reliability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exact Decimal arithmetic and explicit validation; invalid amounts are never treated as zero.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AI suggestions separate from verified findings, ensuring human oversight.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Edge: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than detecting discrepancies —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BudgetClear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reviewers understand, investigate, and document them.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63020" y="3238633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200" y="281674"/>
            <a:ext cx="8500000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4800" b="1" spc="150" dirty="0">
                <a:solidFill>
                  <a:srgbClr val="172243"/>
                </a:solidFill>
                <a:latin typeface="Times New Roman" panose="02020603050405020304" pitchFamily="18" charset="0"/>
                <a:ea typeface="Heading Now 31-38 Bold"/>
                <a:cs typeface="Times New Roman" panose="02020603050405020304" pitchFamily="18" charset="0"/>
                <a:sym typeface="Heading Now 31-38 Bold"/>
              </a:rPr>
              <a:t>SYSTEM ARCHITECTURE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1" name="Caption"/>
          <p:cNvSpPr txBox="1"/>
          <p:nvPr/>
        </p:nvSpPr>
        <p:spPr>
          <a:xfrm>
            <a:off x="548640" y="1280160"/>
            <a:ext cx="15087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rtlCol="0" anchor="t">
            <a:noAutofit/>
          </a:bodyPr>
          <a:lstStyle/>
          <a:p>
            <a:pPr algn="l"/>
            <a:r>
              <a:rPr lang="en-IN" sz="2600" dirty="0">
                <a:solidFill>
                  <a:srgbClr val="172243"/>
                </a:solidFill>
              </a:rPr>
              <a:t>Layered and modular: verified rule-based checks stay separate from optional AI suggestions.</a:t>
            </a:r>
          </a:p>
        </p:txBody>
      </p:sp>
      <p:sp>
        <p:nvSpPr>
          <p:cNvPr id="102" name="Lane label INPUT"/>
          <p:cNvSpPr/>
          <p:nvPr/>
        </p:nvSpPr>
        <p:spPr>
          <a:xfrm>
            <a:off x="548640" y="2514600"/>
            <a:ext cx="2468880" cy="1417320"/>
          </a:xfrm>
          <a:prstGeom prst="roundRect">
            <a:avLst>
              <a:gd name="adj" fmla="val 9000"/>
            </a:avLst>
          </a:prstGeom>
          <a:solidFill>
            <a:srgbClr val="17224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FFFFFF"/>
                </a:solidFill>
              </a:rPr>
              <a:t>INPUT</a:t>
            </a:r>
          </a:p>
          <a:p>
            <a:pPr algn="ctr"/>
            <a:r>
              <a:rPr lang="en-IN" sz="2000" dirty="0">
                <a:solidFill>
                  <a:srgbClr val="FFFFFF"/>
                </a:solidFill>
              </a:rPr>
              <a:t>CSV or manual</a:t>
            </a:r>
          </a:p>
        </p:txBody>
      </p:sp>
      <p:sp>
        <p:nvSpPr>
          <p:cNvPr id="103" name="INPUT CSV Upload"/>
          <p:cNvSpPr/>
          <p:nvPr/>
        </p:nvSpPr>
        <p:spPr>
          <a:xfrm>
            <a:off x="3291840" y="251460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CSV Upload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Transaction records</a:t>
            </a:r>
          </a:p>
        </p:txBody>
      </p:sp>
      <p:sp>
        <p:nvSpPr>
          <p:cNvPr id="104" name="INPUT Manual Entry"/>
          <p:cNvSpPr/>
          <p:nvPr/>
        </p:nvSpPr>
        <p:spPr>
          <a:xfrm>
            <a:off x="7010705" y="251460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Manual Entry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Single records by hand</a:t>
            </a:r>
          </a:p>
        </p:txBody>
      </p:sp>
      <p:sp>
        <p:nvSpPr>
          <p:cNvPr id="105" name="INPUT Fictional Sample"/>
          <p:cNvSpPr/>
          <p:nvPr/>
        </p:nvSpPr>
        <p:spPr>
          <a:xfrm>
            <a:off x="10729570" y="251460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Fictional Sample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Built-in demo dataset</a:t>
            </a:r>
          </a:p>
        </p:txBody>
      </p:sp>
      <p:sp>
        <p:nvSpPr>
          <p:cNvPr id="106" name="INPUT Declared Totals"/>
          <p:cNvSpPr/>
          <p:nvPr/>
        </p:nvSpPr>
        <p:spPr>
          <a:xfrm>
            <a:off x="14448434" y="251460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Declared Totals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Grand and category totals</a:t>
            </a:r>
          </a:p>
        </p:txBody>
      </p:sp>
      <p:sp>
        <p:nvSpPr>
          <p:cNvPr id="107" name="Lane label PROCESSING"/>
          <p:cNvSpPr/>
          <p:nvPr/>
        </p:nvSpPr>
        <p:spPr>
          <a:xfrm>
            <a:off x="548640" y="4297680"/>
            <a:ext cx="2468880" cy="1417320"/>
          </a:xfrm>
          <a:prstGeom prst="roundRect">
            <a:avLst>
              <a:gd name="adj" fmla="val 9000"/>
            </a:avLst>
          </a:prstGeom>
          <a:solidFill>
            <a:srgbClr val="17224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FFFFFF"/>
                </a:solidFill>
              </a:rPr>
              <a:t>PROCESSING</a:t>
            </a:r>
          </a:p>
          <a:p>
            <a:pPr algn="ctr"/>
            <a:r>
              <a:rPr lang="en-IN" sz="2000" dirty="0">
                <a:solidFill>
                  <a:srgbClr val="FFFFFF"/>
                </a:solidFill>
              </a:rPr>
              <a:t>Python modules</a:t>
            </a:r>
          </a:p>
        </p:txBody>
      </p:sp>
      <p:sp>
        <p:nvSpPr>
          <p:cNvPr id="108" name="PROCESSING Validation"/>
          <p:cNvSpPr/>
          <p:nvPr/>
        </p:nvSpPr>
        <p:spPr>
          <a:xfrm>
            <a:off x="3291840" y="429768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Validation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Fields, dates and amounts checked</a:t>
            </a:r>
          </a:p>
        </p:txBody>
      </p:sp>
      <p:sp>
        <p:nvSpPr>
          <p:cNvPr id="109" name="PROCESSING Reconciliation"/>
          <p:cNvSpPr/>
          <p:nvPr/>
        </p:nvSpPr>
        <p:spPr>
          <a:xfrm>
            <a:off x="7010705" y="429768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Reconciliation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Exact Decimal totals compared</a:t>
            </a:r>
          </a:p>
        </p:txBody>
      </p:sp>
      <p:sp>
        <p:nvSpPr>
          <p:cNvPr id="110" name="PROCESSING Duplicate Detection"/>
          <p:cNvSpPr/>
          <p:nvPr/>
        </p:nvSpPr>
        <p:spPr>
          <a:xfrm>
            <a:off x="10729570" y="429768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Duplicate Detection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Date, amount, reference match</a:t>
            </a:r>
          </a:p>
        </p:txBody>
      </p:sp>
      <p:sp>
        <p:nvSpPr>
          <p:cNvPr id="111" name="PROCESSING AI Assistance"/>
          <p:cNvSpPr/>
          <p:nvPr/>
        </p:nvSpPr>
        <p:spPr>
          <a:xfrm>
            <a:off x="14448434" y="429768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3ECF8"/>
          </a:solidFill>
          <a:ln w="22225">
            <a:solidFill>
              <a:srgbClr val="B4475A"/>
            </a:solidFill>
            <a:prstDash val="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AI Assistance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scikit-learn with keyword fallback</a:t>
            </a:r>
          </a:p>
        </p:txBody>
      </p:sp>
      <p:sp>
        <p:nvSpPr>
          <p:cNvPr id="112" name="Lane label REVIEW"/>
          <p:cNvSpPr/>
          <p:nvPr/>
        </p:nvSpPr>
        <p:spPr>
          <a:xfrm>
            <a:off x="548640" y="6080760"/>
            <a:ext cx="2468880" cy="1417320"/>
          </a:xfrm>
          <a:prstGeom prst="roundRect">
            <a:avLst>
              <a:gd name="adj" fmla="val 9000"/>
            </a:avLst>
          </a:prstGeom>
          <a:solidFill>
            <a:srgbClr val="17224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FFFFFF"/>
                </a:solidFill>
              </a:rPr>
              <a:t>REVIEW</a:t>
            </a:r>
          </a:p>
          <a:p>
            <a:pPr algn="ctr"/>
            <a:r>
              <a:rPr lang="en-IN" sz="2000" dirty="0">
                <a:solidFill>
                  <a:srgbClr val="FFFFFF"/>
                </a:solidFill>
              </a:rPr>
              <a:t>Streamlit dashboard</a:t>
            </a:r>
          </a:p>
        </p:txBody>
      </p:sp>
      <p:sp>
        <p:nvSpPr>
          <p:cNvPr id="113" name="REVIEW Data Quality"/>
          <p:cNvSpPr/>
          <p:nvPr/>
        </p:nvSpPr>
        <p:spPr>
          <a:xfrm>
            <a:off x="3291840" y="608076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Data Quality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Errors and warnings listed</a:t>
            </a:r>
          </a:p>
        </p:txBody>
      </p:sp>
      <p:sp>
        <p:nvSpPr>
          <p:cNvPr id="114" name="REVIEW Verified Findings"/>
          <p:cNvSpPr/>
          <p:nvPr/>
        </p:nvSpPr>
        <p:spPr>
          <a:xfrm>
            <a:off x="7010705" y="608076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Verified Findings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Exact differences with IDs</a:t>
            </a:r>
          </a:p>
        </p:txBody>
      </p:sp>
      <p:sp>
        <p:nvSpPr>
          <p:cNvPr id="115" name="REVIEW Duplicate Candidates"/>
          <p:cNvSpPr/>
          <p:nvPr/>
        </p:nvSpPr>
        <p:spPr>
          <a:xfrm>
            <a:off x="10729570" y="608076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Duplicate Candidates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Both records shown</a:t>
            </a:r>
          </a:p>
        </p:txBody>
      </p:sp>
      <p:sp>
        <p:nvSpPr>
          <p:cNvPr id="116" name="REVIEW AI Suggestions"/>
          <p:cNvSpPr/>
          <p:nvPr/>
        </p:nvSpPr>
        <p:spPr>
          <a:xfrm>
            <a:off x="14448434" y="6080760"/>
            <a:ext cx="3291840" cy="1417320"/>
          </a:xfrm>
          <a:prstGeom prst="roundRect">
            <a:avLst>
              <a:gd name="adj" fmla="val 9000"/>
            </a:avLst>
          </a:prstGeom>
          <a:solidFill>
            <a:srgbClr val="F3ECF8"/>
          </a:solidFill>
          <a:ln w="22225">
            <a:solidFill>
              <a:srgbClr val="B4475A"/>
            </a:solidFill>
            <a:prstDash val="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AI Suggestions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Labelled, never auto-applied</a:t>
            </a:r>
          </a:p>
        </p:txBody>
      </p:sp>
      <p:sp>
        <p:nvSpPr>
          <p:cNvPr id="117" name="Lane label OUTPUT"/>
          <p:cNvSpPr/>
          <p:nvPr/>
        </p:nvSpPr>
        <p:spPr>
          <a:xfrm>
            <a:off x="548640" y="7863840"/>
            <a:ext cx="2468880" cy="1417320"/>
          </a:xfrm>
          <a:prstGeom prst="roundRect">
            <a:avLst>
              <a:gd name="adj" fmla="val 9000"/>
            </a:avLst>
          </a:prstGeom>
          <a:solidFill>
            <a:srgbClr val="17224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FFFFFF"/>
                </a:solidFill>
              </a:rPr>
              <a:t>OUTPUT</a:t>
            </a:r>
          </a:p>
          <a:p>
            <a:pPr algn="ctr"/>
            <a:r>
              <a:rPr lang="en-IN" sz="2000" dirty="0">
                <a:solidFill>
                  <a:srgbClr val="FFFFFF"/>
                </a:solidFill>
              </a:rPr>
              <a:t>Review and export</a:t>
            </a:r>
          </a:p>
        </p:txBody>
      </p:sp>
      <p:sp>
        <p:nvSpPr>
          <p:cNvPr id="118" name="OUTPUT Human Review and Export"/>
          <p:cNvSpPr/>
          <p:nvPr/>
        </p:nvSpPr>
        <p:spPr>
          <a:xfrm>
            <a:off x="3291840" y="7863840"/>
            <a:ext cx="14448434" cy="1417320"/>
          </a:xfrm>
          <a:prstGeom prst="roundRect">
            <a:avLst>
              <a:gd name="adj" fmla="val 9000"/>
            </a:avLst>
          </a:prstGeom>
          <a:solidFill>
            <a:srgbClr val="DDE4F3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172243"/>
                </a:solidFill>
              </a:rPr>
              <a:t>Human Review and Export</a:t>
            </a:r>
          </a:p>
          <a:p>
            <a:pPr algn="ctr"/>
            <a:r>
              <a:rPr lang="en-IN" sz="2000" dirty="0">
                <a:solidFill>
                  <a:srgbClr val="172243"/>
                </a:solidFill>
              </a:rPr>
              <a:t>Reviewer accepts or rejects suggestions; original data stays untouched. Export as CSV or JSON with evidence, source labels, review status and disclaimer.</a:t>
            </a:r>
          </a:p>
        </p:txBody>
      </p:sp>
      <p:sp>
        <p:nvSpPr>
          <p:cNvPr id="119" name="Arrow down 0-0"/>
          <p:cNvSpPr/>
          <p:nvPr/>
        </p:nvSpPr>
        <p:spPr>
          <a:xfrm>
            <a:off x="4736592" y="396849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0" name="Arrow down 0-1"/>
          <p:cNvSpPr/>
          <p:nvPr/>
        </p:nvSpPr>
        <p:spPr>
          <a:xfrm>
            <a:off x="8455457" y="396849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1" name="Arrow down 0-2"/>
          <p:cNvSpPr/>
          <p:nvPr/>
        </p:nvSpPr>
        <p:spPr>
          <a:xfrm>
            <a:off x="12174322" y="396849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2" name="Arrow down 0-3"/>
          <p:cNvSpPr/>
          <p:nvPr/>
        </p:nvSpPr>
        <p:spPr>
          <a:xfrm>
            <a:off x="15893186" y="396849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3" name="Arrow down 1-0"/>
          <p:cNvSpPr/>
          <p:nvPr/>
        </p:nvSpPr>
        <p:spPr>
          <a:xfrm>
            <a:off x="4736592" y="575157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4" name="Arrow down 1-1"/>
          <p:cNvSpPr/>
          <p:nvPr/>
        </p:nvSpPr>
        <p:spPr>
          <a:xfrm>
            <a:off x="8455457" y="575157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5" name="Arrow down 1-2"/>
          <p:cNvSpPr/>
          <p:nvPr/>
        </p:nvSpPr>
        <p:spPr>
          <a:xfrm>
            <a:off x="12174322" y="575157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6" name="Arrow down 1-3"/>
          <p:cNvSpPr/>
          <p:nvPr/>
        </p:nvSpPr>
        <p:spPr>
          <a:xfrm>
            <a:off x="15893186" y="575157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7" name="Arrow down 2-0"/>
          <p:cNvSpPr/>
          <p:nvPr/>
        </p:nvSpPr>
        <p:spPr>
          <a:xfrm>
            <a:off x="4736592" y="753465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8" name="Arrow down 2-1"/>
          <p:cNvSpPr/>
          <p:nvPr/>
        </p:nvSpPr>
        <p:spPr>
          <a:xfrm>
            <a:off x="8455457" y="753465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29" name="Arrow down 2-2"/>
          <p:cNvSpPr/>
          <p:nvPr/>
        </p:nvSpPr>
        <p:spPr>
          <a:xfrm>
            <a:off x="12174322" y="753465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30" name="Arrow down 2-3"/>
          <p:cNvSpPr/>
          <p:nvPr/>
        </p:nvSpPr>
        <p:spPr>
          <a:xfrm>
            <a:off x="15893186" y="7534656"/>
            <a:ext cx="402336" cy="292608"/>
          </a:xfrm>
          <a:prstGeom prst="down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31" name="Arrow right 0"/>
          <p:cNvSpPr/>
          <p:nvPr/>
        </p:nvSpPr>
        <p:spPr>
          <a:xfrm>
            <a:off x="6611112" y="4823460"/>
            <a:ext cx="365760" cy="365760"/>
          </a:xfrm>
          <a:prstGeom prst="right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32" name="Arrow right 1"/>
          <p:cNvSpPr/>
          <p:nvPr/>
        </p:nvSpPr>
        <p:spPr>
          <a:xfrm>
            <a:off x="10329977" y="4823460"/>
            <a:ext cx="365760" cy="365760"/>
          </a:xfrm>
          <a:prstGeom prst="rightArrow">
            <a:avLst/>
          </a:prstGeom>
          <a:solidFill>
            <a:srgbClr val="E0685E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33" name="Legend solid"/>
          <p:cNvSpPr/>
          <p:nvPr/>
        </p:nvSpPr>
        <p:spPr>
          <a:xfrm>
            <a:off x="3291840" y="944575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225">
            <a:solidFill>
              <a:srgbClr val="17224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34" name="Legend solid text"/>
          <p:cNvSpPr txBox="1"/>
          <p:nvPr/>
        </p:nvSpPr>
        <p:spPr>
          <a:xfrm>
            <a:off x="3886200" y="9418320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rtlCol="0" anchor="ctr">
            <a:noAutofit/>
          </a:bodyPr>
          <a:lstStyle/>
          <a:p>
            <a:pPr algn="l"/>
            <a:r>
              <a:rPr lang="en-IN" sz="2000" dirty="0">
                <a:solidFill>
                  <a:srgbClr val="172243"/>
                </a:solidFill>
              </a:rPr>
              <a:t>Verified, rule-based result</a:t>
            </a:r>
          </a:p>
        </p:txBody>
      </p:sp>
      <p:sp>
        <p:nvSpPr>
          <p:cNvPr id="135" name="Legend dashed"/>
          <p:cNvSpPr/>
          <p:nvPr/>
        </p:nvSpPr>
        <p:spPr>
          <a:xfrm>
            <a:off x="8778240" y="944575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3ECF8"/>
          </a:solidFill>
          <a:ln w="22225">
            <a:solidFill>
              <a:srgbClr val="B4475A"/>
            </a:solidFill>
            <a:prstDash val="dash"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IN"/>
          </a:p>
        </p:txBody>
      </p:sp>
      <p:sp>
        <p:nvSpPr>
          <p:cNvPr id="136" name="Legend dashed text"/>
          <p:cNvSpPr txBox="1"/>
          <p:nvPr/>
        </p:nvSpPr>
        <p:spPr>
          <a:xfrm>
            <a:off x="9372600" y="941832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rtlCol="0" anchor="ctr">
            <a:noAutofit/>
          </a:bodyPr>
          <a:lstStyle/>
          <a:p>
            <a:pPr algn="l"/>
            <a:r>
              <a:rPr lang="en-IN" sz="2000" dirty="0">
                <a:solidFill>
                  <a:srgbClr val="172243"/>
                </a:solidFill>
              </a:rPr>
              <a:t>Optional, unverified AI suggestion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594</Words>
  <Application>Microsoft Office PowerPoint</Application>
  <PresentationFormat>Custom</PresentationFormat>
  <Paragraphs>114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Heading Now 31-38 Bold</vt:lpstr>
      <vt:lpstr>Heading Now 31-38</vt:lpstr>
      <vt:lpstr>Times New Roman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cp:lastModifiedBy>om sabale</cp:lastModifiedBy>
  <cp:revision>2</cp:revision>
  <dcterms:created xsi:type="dcterms:W3CDTF">2006-08-16T00:00:00Z</dcterms:created>
  <dcterms:modified xsi:type="dcterms:W3CDTF">2026-10-11T13:16:48Z</dcterms:modified>
  <dc:identifier>DAHXr7I3BNw</dc:identifier>
</cp:coreProperties>
</file>